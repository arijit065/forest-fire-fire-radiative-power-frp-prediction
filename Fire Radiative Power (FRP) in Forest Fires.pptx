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Default Extension="png" ContentType="image/png"/>
  <Override PartName="/ppt/metadata" ContentType="application/binary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changesInfos/changesInfo1.xml" ContentType="application/vnd.ms-powerpoint.changesinfo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65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4" r:id="rId9"/>
    <p:sldId id="265" r:id="rId10"/>
    <p:sldId id="268" r:id="rId11"/>
    <p:sldId id="269" r:id="rId12"/>
    <p:sldId id="270" r:id="rId13"/>
    <p:sldId id="266" r:id="rId14"/>
    <p:sldId id="271" r:id="rId15"/>
    <p:sldId id="262" r:id="rId16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792">
          <p15:clr>
            <a:srgbClr val="A4A3A4"/>
          </p15:clr>
        </p15:guide>
        <p15:guide id="2" pos="192">
          <p15:clr>
            <a:srgbClr val="A4A3A4"/>
          </p15:clr>
        </p15:guide>
        <p15:guide id="3" orient="horz" pos="1080">
          <p15:clr>
            <a:srgbClr val="A4A3A4"/>
          </p15:clr>
        </p15:guide>
      </p15:sldGuideLst>
    </p:ext>
    <p:ext uri="http://customooxmlschemas.google.com/">
      <go:slidesCustomData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go="http://customooxmlschemas.google.com/" xmlns="" r:id="rId220" roundtripDataSignature="AMtx7miWNY2LB4ETJwrL8F0N+EK9hEhqU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 xmlns="">
          <a:srgbClr val="FF0000"/>
        </p14:laserClr>
      </p:ext>
      <p:ext uri="{2FDB2607-1784-4EEB-B798-7EB5836EED8A}">
        <p14:showMediaCtrls xmlns:p14="http://schemas.microsoft.com/office/powerpoint/2010/main" xmlns="" val="1"/>
      </p:ext>
    </p:extLst>
  </p:showPr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32767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4485" autoAdjust="0"/>
    <p:restoredTop sz="96301"/>
  </p:normalViewPr>
  <p:slideViewPr>
    <p:cSldViewPr snapToGrid="0">
      <p:cViewPr>
        <p:scale>
          <a:sx n="70" d="100"/>
          <a:sy n="70" d="100"/>
        </p:scale>
        <p:origin x="-762" y="-54"/>
      </p:cViewPr>
      <p:guideLst>
        <p:guide orient="horz" pos="792"/>
        <p:guide orient="horz" pos="1080"/>
        <p:guide pos="19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222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2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20" Type="http://customschemas.google.com/relationships/presentationmetadata" Target="metadata"/><Relationship Id="rId225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22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3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aghunandan Mysore Sreeharsha" userId="1c41a7c1-88f6-49b5-bd75-570a6d466f84" providerId="ADAL" clId="{28DC258F-6566-5B28-BF21-7CE4916BB6A2}"/>
    <pc:docChg chg="modSld">
      <pc:chgData name="Raghunandan Mysore Sreeharsha" userId="1c41a7c1-88f6-49b5-bd75-570a6d466f84" providerId="ADAL" clId="{28DC258F-6566-5B28-BF21-7CE4916BB6A2}" dt="2025-09-08T10:57:39.967" v="0" actId="14100"/>
      <pc:docMkLst>
        <pc:docMk/>
      </pc:docMkLst>
      <pc:sldChg chg="modSp mod">
        <pc:chgData name="Raghunandan Mysore Sreeharsha" userId="1c41a7c1-88f6-49b5-bd75-570a6d466f84" providerId="ADAL" clId="{28DC258F-6566-5B28-BF21-7CE4916BB6A2}" dt="2025-09-08T10:57:39.967" v="0" actId="14100"/>
        <pc:sldMkLst>
          <pc:docMk/>
          <pc:sldMk cId="367127615" sldId="256"/>
        </pc:sldMkLst>
        <pc:spChg chg="mod">
          <ac:chgData name="Raghunandan Mysore Sreeharsha" userId="1c41a7c1-88f6-49b5-bd75-570a6d466f84" providerId="ADAL" clId="{28DC258F-6566-5B28-BF21-7CE4916BB6A2}" dt="2025-09-08T10:57:39.967" v="0" actId="14100"/>
          <ac:spMkLst>
            <pc:docMk/>
            <pc:sldMk cId="367127615" sldId="256"/>
            <ac:spMk id="4" creationId="{C1857762-AD52-483C-B3E1-635C5BBC6F2F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xmlns="" val="1823413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xmlns="" val="28378783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>
  <p:cSld name="Title and body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xmlns="" val="27718775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xmlns="" val="24282664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2.jpe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Google Shape;110;p4" descr="A close up of a sign&#10;&#10;Description automatically generated">
            <a:extLst>
              <a:ext uri="{FF2B5EF4-FFF2-40B4-BE49-F238E27FC236}">
                <a16:creationId xmlns:a16="http://schemas.microsoft.com/office/drawing/2014/main" xmlns="" id="{CE849A3B-BCF0-B774-F89E-81965C71F93E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0072688" y="78002"/>
            <a:ext cx="1800225" cy="575514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xmlns="" id="{E153E6A6-60E4-FE14-1CBC-8CC211274D1C}"/>
              </a:ext>
            </a:extLst>
          </p:cNvPr>
          <p:cNvSpPr/>
          <p:nvPr/>
        </p:nvSpPr>
        <p:spPr>
          <a:xfrm>
            <a:off x="1" y="0"/>
            <a:ext cx="9829800" cy="717630"/>
          </a:xfrm>
          <a:prstGeom prst="rect">
            <a:avLst/>
          </a:prstGeom>
          <a:solidFill>
            <a:srgbClr val="213264"/>
          </a:solidFill>
          <a:ln>
            <a:solidFill>
              <a:srgbClr val="21326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xmlns="" id="{2C7CE881-772B-9023-3054-4B219B75D755}"/>
              </a:ext>
            </a:extLst>
          </p:cNvPr>
          <p:cNvSpPr/>
          <p:nvPr/>
        </p:nvSpPr>
        <p:spPr>
          <a:xfrm>
            <a:off x="9888967" y="-419"/>
            <a:ext cx="112283" cy="732357"/>
          </a:xfrm>
          <a:prstGeom prst="rect">
            <a:avLst/>
          </a:prstGeom>
          <a:solidFill>
            <a:srgbClr val="7FBA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31" name="Picture 30" descr="A blue and white background&#10;&#10;Description automatically generated with medium confidence">
            <a:extLst>
              <a:ext uri="{FF2B5EF4-FFF2-40B4-BE49-F238E27FC236}">
                <a16:creationId xmlns:a16="http://schemas.microsoft.com/office/drawing/2014/main" xmlns="" id="{16A7B69A-9B14-87FE-841D-37F0A91D141D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alphaModFix amt="16000"/>
          </a:blip>
          <a:srcRect t="24724" r="1619" b="63695"/>
          <a:stretch/>
        </p:blipFill>
        <p:spPr>
          <a:xfrm>
            <a:off x="0" y="-1"/>
            <a:ext cx="9839325" cy="723901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xmlns="" id="{37B91A16-5D54-2FC0-B0FD-A78085FC1313}"/>
              </a:ext>
            </a:extLst>
          </p:cNvPr>
          <p:cNvSpPr/>
          <p:nvPr/>
        </p:nvSpPr>
        <p:spPr>
          <a:xfrm>
            <a:off x="11925300" y="-419"/>
            <a:ext cx="266700" cy="732357"/>
          </a:xfrm>
          <a:prstGeom prst="rect">
            <a:avLst/>
          </a:prstGeom>
          <a:solidFill>
            <a:srgbClr val="FED5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87" r:id="rId1"/>
    <p:sldLayoutId id="2147483701" r:id="rId2"/>
    <p:sldLayoutId id="2147483714" r:id="rId3"/>
    <p:sldLayoutId id="2147483727" r:id="rId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 xmlns="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hyperlink" Target="https://www.freepik.com/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person sitting at a desk with a computer&#10;&#10;Description automatically generated">
            <a:extLst>
              <a:ext uri="{FF2B5EF4-FFF2-40B4-BE49-F238E27FC236}">
                <a16:creationId xmlns:a16="http://schemas.microsoft.com/office/drawing/2014/main" xmlns="" id="{07B8740D-C76F-46FC-AEFB-23FB0614DB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xmlns="" id="{C1857762-AD52-483C-B3E1-635C5BBC6F2F}"/>
              </a:ext>
            </a:extLst>
          </p:cNvPr>
          <p:cNvSpPr/>
          <p:nvPr/>
        </p:nvSpPr>
        <p:spPr>
          <a:xfrm>
            <a:off x="6390752" y="584200"/>
            <a:ext cx="4156598" cy="977900"/>
          </a:xfrm>
          <a:prstGeom prst="roundRect">
            <a:avLst/>
          </a:prstGeom>
          <a:solidFill>
            <a:srgbClr val="EBEEF9"/>
          </a:solidFill>
          <a:ln>
            <a:solidFill>
              <a:schemeClr val="bg1">
                <a:lumMod val="85000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D5067E9C-C7B9-4476-9708-CBB3F66FD892}"/>
              </a:ext>
            </a:extLst>
          </p:cNvPr>
          <p:cNvSpPr txBox="1"/>
          <p:nvPr/>
        </p:nvSpPr>
        <p:spPr>
          <a:xfrm>
            <a:off x="4431322" y="1913206"/>
            <a:ext cx="7287065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 smtClean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Estimating Fire Radiative Power (FRP) in Forest Fires Using Satellite Data</a:t>
            </a:r>
          </a:p>
        </p:txBody>
      </p:sp>
      <p:pic>
        <p:nvPicPr>
          <p:cNvPr id="7" name="Picture 6" descr="A close up of a logo&#10;&#10;Description automatically generated">
            <a:extLst>
              <a:ext uri="{FF2B5EF4-FFF2-40B4-BE49-F238E27FC236}">
                <a16:creationId xmlns:a16="http://schemas.microsoft.com/office/drawing/2014/main" xmlns="" id="{BD3530AF-9771-470E-A9BF-F28AA227533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8267419" y="868863"/>
            <a:ext cx="1263157" cy="41083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891313" y="3846285"/>
            <a:ext cx="6952344" cy="20928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 smtClean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 ARIJIT MANDAL</a:t>
            </a:r>
          </a:p>
          <a:p>
            <a:r>
              <a:rPr lang="en-US" sz="2200" b="1" dirty="0" smtClean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 SRM INSTITUTE OF SCIENCE AND TECHNOLOGY</a:t>
            </a:r>
          </a:p>
          <a:p>
            <a:r>
              <a:rPr lang="en-US" sz="2200" b="1" dirty="0" smtClean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AICTE Student ID:STU684e91b0f0e8b1749979568</a:t>
            </a:r>
          </a:p>
          <a:p>
            <a:r>
              <a:rPr lang="en-US" sz="2200" b="1" dirty="0" smtClean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AICTE Internship ID:</a:t>
            </a:r>
          </a:p>
          <a:p>
            <a:r>
              <a:rPr lang="en-US" sz="2200" b="1" dirty="0" smtClean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               INTERNSHIP_17513641056863b20937d78</a:t>
            </a:r>
          </a:p>
          <a:p>
            <a:endParaRPr lang="en-US" sz="2000" b="1" dirty="0">
              <a:solidFill>
                <a:schemeClr val="bg1"/>
              </a:solidFill>
              <a:latin typeface="Calibri" pitchFamily="34" charset="0"/>
              <a:cs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3671276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B094E319-C77C-49E2-964C-6E125D716194}"/>
              </a:ext>
            </a:extLst>
          </p:cNvPr>
          <p:cNvSpPr txBox="1"/>
          <p:nvPr/>
        </p:nvSpPr>
        <p:spPr>
          <a:xfrm>
            <a:off x="191911" y="972537"/>
            <a:ext cx="265288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>
                <a:solidFill>
                  <a:srgbClr val="213163"/>
                </a:solidFill>
              </a:rPr>
              <a:t>Learning Objectives</a:t>
            </a:r>
            <a:endParaRPr lang="en-IN" sz="2000" dirty="0">
              <a:solidFill>
                <a:srgbClr val="213163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8E1F3497-5370-4874-9908-5AD45214E10B}"/>
              </a:ext>
            </a:extLst>
          </p:cNvPr>
          <p:cNvSpPr txBox="1"/>
          <p:nvPr/>
        </p:nvSpPr>
        <p:spPr>
          <a:xfrm>
            <a:off x="199809" y="6135329"/>
            <a:ext cx="79587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800"/>
              </a:spcAft>
            </a:pPr>
            <a:r>
              <a:rPr lang="en-IN" sz="1200" b="1" dirty="0">
                <a:latin typeface="+mn-lt"/>
              </a:rPr>
              <a:t>Source :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ECE830DD-8813-42EB-B27B-B7D85423D0C7}"/>
              </a:ext>
            </a:extLst>
          </p:cNvPr>
          <p:cNvSpPr txBox="1"/>
          <p:nvPr/>
        </p:nvSpPr>
        <p:spPr>
          <a:xfrm>
            <a:off x="880529" y="6135329"/>
            <a:ext cx="184235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800"/>
              </a:spcAft>
            </a:pPr>
            <a:r>
              <a:rPr lang="en-IN" sz="1200" dirty="0">
                <a:solidFill>
                  <a:srgbClr val="0000FF"/>
                </a:solidFill>
                <a:latin typeface="+mn-lt"/>
                <a:hlinkClick r:id="rId2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www.freepik.com/</a:t>
            </a:r>
            <a:endParaRPr lang="en-IN" sz="1200" dirty="0">
              <a:solidFill>
                <a:srgbClr val="0000FF"/>
              </a:solidFill>
              <a:latin typeface="+mn-lt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xmlns="" id="{CA22F707-7F22-48A3-97EC-98EFB1023A55}"/>
              </a:ext>
            </a:extLst>
          </p:cNvPr>
          <p:cNvCxnSpPr/>
          <p:nvPr/>
        </p:nvCxnSpPr>
        <p:spPr>
          <a:xfrm>
            <a:off x="0" y="6055360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ladder leading to a large yellow circle&#10;&#10;Description automatically generated">
            <a:extLst>
              <a:ext uri="{FF2B5EF4-FFF2-40B4-BE49-F238E27FC236}">
                <a16:creationId xmlns:a16="http://schemas.microsoft.com/office/drawing/2014/main" xmlns="" id="{E2920B14-B344-4926-9729-BC7EBD91FF9A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alphaModFix amt="85000"/>
          </a:blip>
          <a:srcRect l="13763" t="6135" r="13650"/>
          <a:stretch/>
        </p:blipFill>
        <p:spPr>
          <a:xfrm>
            <a:off x="7359748" y="1400517"/>
            <a:ext cx="4500880" cy="463296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xmlns="" id="{6C264928-EACB-4739-BDDA-6799C99356F3}"/>
              </a:ext>
            </a:extLst>
          </p:cNvPr>
          <p:cNvSpPr txBox="1"/>
          <p:nvPr/>
        </p:nvSpPr>
        <p:spPr>
          <a:xfrm>
            <a:off x="8839200" y="3168609"/>
            <a:ext cx="1503681" cy="630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800"/>
              </a:spcAft>
            </a:pPr>
            <a:r>
              <a:rPr lang="en-IN" sz="3500" b="1" dirty="0">
                <a:solidFill>
                  <a:schemeClr val="tx1"/>
                </a:solidFill>
                <a:latin typeface="+mn-lt"/>
              </a:rPr>
              <a:t>GOAL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1354" y="1547447"/>
            <a:ext cx="6949439" cy="43750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buFont typeface="Wingdings" pitchFamily="2" charset="2"/>
              <a:buChar char="Ø"/>
            </a:pPr>
            <a:r>
              <a:rPr lang="en-US" dirty="0" smtClean="0">
                <a:solidFill>
                  <a:srgbClr val="002060"/>
                </a:solidFill>
              </a:rPr>
              <a:t> Understand what Fire Radiative Power (FRP) is and          why it is important for forest fire monitoring.</a:t>
            </a:r>
          </a:p>
          <a:p>
            <a:pPr>
              <a:lnSpc>
                <a:spcPct val="150000"/>
              </a:lnSpc>
              <a:buFont typeface="Wingdings" pitchFamily="2" charset="2"/>
              <a:buChar char="Ø"/>
            </a:pPr>
            <a:r>
              <a:rPr lang="en-US" dirty="0" smtClean="0">
                <a:solidFill>
                  <a:srgbClr val="002060"/>
                </a:solidFill>
              </a:rPr>
              <a:t> Learn how to clean and prepare satellite data for analysis.</a:t>
            </a:r>
          </a:p>
          <a:p>
            <a:pPr>
              <a:lnSpc>
                <a:spcPct val="150000"/>
              </a:lnSpc>
              <a:buFont typeface="Wingdings" pitchFamily="2" charset="2"/>
              <a:buChar char="Ø"/>
            </a:pPr>
            <a:r>
              <a:rPr lang="en-US" dirty="0" smtClean="0">
                <a:solidFill>
                  <a:srgbClr val="002060"/>
                </a:solidFill>
              </a:rPr>
              <a:t> Explore the dataset using graphs and find patterns that affect FRP.</a:t>
            </a:r>
          </a:p>
          <a:p>
            <a:pPr>
              <a:lnSpc>
                <a:spcPct val="150000"/>
              </a:lnSpc>
              <a:buFont typeface="Wingdings" pitchFamily="2" charset="2"/>
              <a:buChar char="Ø"/>
            </a:pPr>
            <a:r>
              <a:rPr lang="en-US" dirty="0" smtClean="0">
                <a:solidFill>
                  <a:srgbClr val="002060"/>
                </a:solidFill>
              </a:rPr>
              <a:t> Build and test machine learning models (regression and classification) for predicting FRP.</a:t>
            </a:r>
          </a:p>
          <a:p>
            <a:pPr>
              <a:lnSpc>
                <a:spcPct val="150000"/>
              </a:lnSpc>
              <a:buFont typeface="Wingdings" pitchFamily="2" charset="2"/>
              <a:buChar char="Ø"/>
            </a:pPr>
            <a:r>
              <a:rPr lang="en-US" dirty="0" smtClean="0">
                <a:solidFill>
                  <a:srgbClr val="002060"/>
                </a:solidFill>
              </a:rPr>
              <a:t> Learn how to save and deploy the model in a simple web app for real use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29320524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2361D872-7EC7-439F-A588-B1D90CB7A92F}"/>
              </a:ext>
            </a:extLst>
          </p:cNvPr>
          <p:cNvSpPr txBox="1"/>
          <p:nvPr/>
        </p:nvSpPr>
        <p:spPr>
          <a:xfrm>
            <a:off x="135834" y="1067664"/>
            <a:ext cx="610262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>
                <a:solidFill>
                  <a:srgbClr val="213163"/>
                </a:solidFill>
              </a:rPr>
              <a:t>T</a:t>
            </a:r>
            <a:r>
              <a:rPr lang="en-IN" sz="2000" b="1" dirty="0" err="1">
                <a:solidFill>
                  <a:srgbClr val="213163"/>
                </a:solidFill>
              </a:rPr>
              <a:t>ools</a:t>
            </a:r>
            <a:r>
              <a:rPr lang="en-IN" sz="2000" b="1" dirty="0">
                <a:solidFill>
                  <a:srgbClr val="213163"/>
                </a:solidFill>
              </a:rPr>
              <a:t> and Technology used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07963" y="1716258"/>
            <a:ext cx="8665699" cy="51470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800" b="1" dirty="0" smtClean="0">
                <a:solidFill>
                  <a:srgbClr val="002060"/>
                </a:solidFill>
              </a:rPr>
              <a:t>Programming Language:</a:t>
            </a:r>
            <a:r>
              <a:rPr lang="en-US" sz="1800" dirty="0" smtClean="0">
                <a:solidFill>
                  <a:srgbClr val="002060"/>
                </a:solidFill>
              </a:rPr>
              <a:t> Python</a:t>
            </a:r>
          </a:p>
          <a:p>
            <a:pPr>
              <a:lnSpc>
                <a:spcPct val="150000"/>
              </a:lnSpc>
            </a:pPr>
            <a:r>
              <a:rPr lang="en-US" sz="1800" b="1" dirty="0" smtClean="0">
                <a:solidFill>
                  <a:srgbClr val="002060"/>
                </a:solidFill>
              </a:rPr>
              <a:t>Framework:</a:t>
            </a:r>
            <a:r>
              <a:rPr lang="en-US" sz="1800" dirty="0" smtClean="0">
                <a:solidFill>
                  <a:srgbClr val="002060"/>
                </a:solidFill>
              </a:rPr>
              <a:t> Streamlit, Flask (for deployment)</a:t>
            </a:r>
          </a:p>
          <a:p>
            <a:pPr>
              <a:lnSpc>
                <a:spcPct val="150000"/>
              </a:lnSpc>
            </a:pPr>
            <a:r>
              <a:rPr lang="en-US" sz="1800" b="1" dirty="0" smtClean="0">
                <a:solidFill>
                  <a:srgbClr val="002060"/>
                </a:solidFill>
              </a:rPr>
              <a:t>Environment:</a:t>
            </a:r>
            <a:r>
              <a:rPr lang="en-US" sz="1800" dirty="0" smtClean="0">
                <a:solidFill>
                  <a:srgbClr val="002060"/>
                </a:solidFill>
              </a:rPr>
              <a:t> Google </a:t>
            </a:r>
            <a:r>
              <a:rPr lang="en-US" sz="1800" dirty="0" err="1" smtClean="0">
                <a:solidFill>
                  <a:srgbClr val="002060"/>
                </a:solidFill>
              </a:rPr>
              <a:t>Colab</a:t>
            </a:r>
            <a:r>
              <a:rPr lang="en-US" sz="1800" dirty="0" smtClean="0">
                <a:solidFill>
                  <a:srgbClr val="002060"/>
                </a:solidFill>
              </a:rPr>
              <a:t> / </a:t>
            </a:r>
            <a:r>
              <a:rPr lang="en-US" sz="1800" dirty="0" err="1" smtClean="0">
                <a:solidFill>
                  <a:srgbClr val="002060"/>
                </a:solidFill>
              </a:rPr>
              <a:t>Jupyter</a:t>
            </a:r>
            <a:r>
              <a:rPr lang="en-US" sz="1800" dirty="0" smtClean="0">
                <a:solidFill>
                  <a:srgbClr val="002060"/>
                </a:solidFill>
              </a:rPr>
              <a:t> Notebook / VS Code</a:t>
            </a:r>
          </a:p>
          <a:p>
            <a:pPr>
              <a:lnSpc>
                <a:spcPct val="150000"/>
              </a:lnSpc>
            </a:pPr>
            <a:r>
              <a:rPr lang="en-US" sz="1800" b="1" dirty="0" smtClean="0">
                <a:solidFill>
                  <a:srgbClr val="002060"/>
                </a:solidFill>
              </a:rPr>
              <a:t>Dataset:</a:t>
            </a:r>
            <a:r>
              <a:rPr lang="en-US" sz="1800" dirty="0" smtClean="0">
                <a:solidFill>
                  <a:srgbClr val="002060"/>
                </a:solidFill>
              </a:rPr>
              <a:t> NASA MODIS Satellite Fire Dataset (Turkey Fire Data: 2000–2021)</a:t>
            </a:r>
          </a:p>
          <a:p>
            <a:pPr>
              <a:lnSpc>
                <a:spcPct val="150000"/>
              </a:lnSpc>
            </a:pPr>
            <a:r>
              <a:rPr lang="en-US" sz="1800" b="1" dirty="0" smtClean="0">
                <a:solidFill>
                  <a:srgbClr val="002060"/>
                </a:solidFill>
              </a:rPr>
              <a:t>Libraries:</a:t>
            </a:r>
            <a:endParaRPr lang="en-US" sz="1800" dirty="0" smtClean="0">
              <a:solidFill>
                <a:srgbClr val="002060"/>
              </a:solidFill>
            </a:endParaRPr>
          </a:p>
          <a:p>
            <a:pPr>
              <a:lnSpc>
                <a:spcPct val="150000"/>
              </a:lnSpc>
            </a:pPr>
            <a:r>
              <a:rPr lang="en-US" sz="1800" b="1" dirty="0" smtClean="0">
                <a:solidFill>
                  <a:srgbClr val="002060"/>
                </a:solidFill>
              </a:rPr>
              <a:t>                Data Handling:</a:t>
            </a:r>
            <a:r>
              <a:rPr lang="en-US" sz="1800" dirty="0" smtClean="0">
                <a:solidFill>
                  <a:srgbClr val="002060"/>
                </a:solidFill>
              </a:rPr>
              <a:t> Pandas, </a:t>
            </a:r>
            <a:r>
              <a:rPr lang="en-US" sz="1800" dirty="0" err="1" smtClean="0">
                <a:solidFill>
                  <a:srgbClr val="002060"/>
                </a:solidFill>
              </a:rPr>
              <a:t>NumPy</a:t>
            </a:r>
            <a:endParaRPr lang="en-US" sz="1800" dirty="0" smtClean="0">
              <a:solidFill>
                <a:srgbClr val="002060"/>
              </a:solidFill>
            </a:endParaRPr>
          </a:p>
          <a:p>
            <a:pPr>
              <a:lnSpc>
                <a:spcPct val="150000"/>
              </a:lnSpc>
            </a:pPr>
            <a:r>
              <a:rPr lang="en-US" sz="1800" b="1" dirty="0" smtClean="0">
                <a:solidFill>
                  <a:srgbClr val="002060"/>
                </a:solidFill>
              </a:rPr>
              <a:t>                Visualization:</a:t>
            </a:r>
            <a:r>
              <a:rPr lang="en-US" sz="1800" dirty="0" smtClean="0">
                <a:solidFill>
                  <a:srgbClr val="002060"/>
                </a:solidFill>
              </a:rPr>
              <a:t> </a:t>
            </a:r>
            <a:r>
              <a:rPr lang="en-US" sz="1800" dirty="0" err="1" smtClean="0">
                <a:solidFill>
                  <a:srgbClr val="002060"/>
                </a:solidFill>
              </a:rPr>
              <a:t>Matplotlib</a:t>
            </a:r>
            <a:r>
              <a:rPr lang="en-US" sz="1800" dirty="0" smtClean="0">
                <a:solidFill>
                  <a:srgbClr val="002060"/>
                </a:solidFill>
              </a:rPr>
              <a:t>, </a:t>
            </a:r>
            <a:r>
              <a:rPr lang="en-US" sz="1800" dirty="0" err="1" smtClean="0">
                <a:solidFill>
                  <a:srgbClr val="002060"/>
                </a:solidFill>
              </a:rPr>
              <a:t>Seaborn</a:t>
            </a:r>
            <a:endParaRPr lang="en-US" sz="1800" dirty="0" smtClean="0">
              <a:solidFill>
                <a:srgbClr val="002060"/>
              </a:solidFill>
            </a:endParaRPr>
          </a:p>
          <a:p>
            <a:pPr>
              <a:lnSpc>
                <a:spcPct val="150000"/>
              </a:lnSpc>
            </a:pPr>
            <a:r>
              <a:rPr lang="en-US" sz="1800" b="1" dirty="0" smtClean="0">
                <a:solidFill>
                  <a:srgbClr val="002060"/>
                </a:solidFill>
              </a:rPr>
              <a:t>                Machine Learning:</a:t>
            </a:r>
            <a:r>
              <a:rPr lang="en-US" sz="1800" dirty="0" smtClean="0">
                <a:solidFill>
                  <a:srgbClr val="002060"/>
                </a:solidFill>
              </a:rPr>
              <a:t> </a:t>
            </a:r>
            <a:r>
              <a:rPr lang="en-US" sz="1800" dirty="0" err="1" smtClean="0">
                <a:solidFill>
                  <a:srgbClr val="002060"/>
                </a:solidFill>
              </a:rPr>
              <a:t>Scikit</a:t>
            </a:r>
            <a:r>
              <a:rPr lang="en-US" sz="1800" dirty="0" smtClean="0">
                <a:solidFill>
                  <a:srgbClr val="002060"/>
                </a:solidFill>
              </a:rPr>
              <a:t>-learn</a:t>
            </a:r>
          </a:p>
          <a:p>
            <a:pPr>
              <a:lnSpc>
                <a:spcPct val="150000"/>
              </a:lnSpc>
            </a:pPr>
            <a:r>
              <a:rPr lang="en-US" sz="1800" b="1" dirty="0" smtClean="0">
                <a:solidFill>
                  <a:srgbClr val="002060"/>
                </a:solidFill>
              </a:rPr>
              <a:t>                Model Saving:</a:t>
            </a:r>
            <a:r>
              <a:rPr lang="en-US" sz="1800" dirty="0" smtClean="0">
                <a:solidFill>
                  <a:srgbClr val="002060"/>
                </a:solidFill>
              </a:rPr>
              <a:t> Joblib</a:t>
            </a:r>
          </a:p>
          <a:p>
            <a:pPr>
              <a:lnSpc>
                <a:spcPct val="150000"/>
              </a:lnSpc>
            </a:pPr>
            <a:r>
              <a:rPr lang="en-US" sz="1800" b="1" dirty="0" smtClean="0">
                <a:solidFill>
                  <a:srgbClr val="002060"/>
                </a:solidFill>
              </a:rPr>
              <a:t>Version Control:</a:t>
            </a:r>
            <a:r>
              <a:rPr lang="en-US" sz="1800" dirty="0" smtClean="0">
                <a:solidFill>
                  <a:srgbClr val="002060"/>
                </a:solidFill>
              </a:rPr>
              <a:t> </a:t>
            </a:r>
            <a:r>
              <a:rPr lang="en-US" sz="1800" dirty="0" err="1" smtClean="0">
                <a:solidFill>
                  <a:srgbClr val="002060"/>
                </a:solidFill>
              </a:rPr>
              <a:t>Git</a:t>
            </a:r>
            <a:r>
              <a:rPr lang="en-US" sz="1800" dirty="0" smtClean="0">
                <a:solidFill>
                  <a:srgbClr val="002060"/>
                </a:solidFill>
              </a:rPr>
              <a:t> &amp; GitHub</a:t>
            </a:r>
          </a:p>
          <a:p>
            <a:pPr>
              <a:lnSpc>
                <a:spcPct val="150000"/>
              </a:lnSpc>
            </a:pPr>
            <a:r>
              <a:rPr lang="en-US" sz="1800" b="1" dirty="0" smtClean="0">
                <a:solidFill>
                  <a:srgbClr val="002060"/>
                </a:solidFill>
              </a:rPr>
              <a:t>Deployment Platform:</a:t>
            </a:r>
            <a:r>
              <a:rPr lang="en-US" sz="1800" dirty="0" smtClean="0">
                <a:solidFill>
                  <a:srgbClr val="002060"/>
                </a:solidFill>
              </a:rPr>
              <a:t> Streamlit Cloud / </a:t>
            </a:r>
            <a:r>
              <a:rPr lang="en-US" sz="1800" dirty="0" err="1" smtClean="0">
                <a:solidFill>
                  <a:srgbClr val="002060"/>
                </a:solidFill>
              </a:rPr>
              <a:t>Localhost</a:t>
            </a:r>
            <a:r>
              <a:rPr lang="en-US" sz="1800" dirty="0" smtClean="0">
                <a:solidFill>
                  <a:srgbClr val="002060"/>
                </a:solidFill>
              </a:rPr>
              <a:t> (for hosting the prediction app)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5645712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2361D872-7EC7-439F-A588-B1D90CB7A92F}"/>
              </a:ext>
            </a:extLst>
          </p:cNvPr>
          <p:cNvSpPr txBox="1"/>
          <p:nvPr/>
        </p:nvSpPr>
        <p:spPr>
          <a:xfrm>
            <a:off x="268356" y="1014656"/>
            <a:ext cx="610262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213163"/>
                </a:solidFill>
              </a:rPr>
              <a:t>Methodology</a:t>
            </a:r>
            <a:r>
              <a:rPr lang="en-US" sz="1800" b="1" dirty="0">
                <a:solidFill>
                  <a:srgbClr val="213163"/>
                </a:solidFill>
              </a:rPr>
              <a:t> </a:t>
            </a:r>
            <a:endParaRPr lang="en-IN" sz="1800" dirty="0">
              <a:solidFill>
                <a:srgbClr val="213163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62708" y="1589649"/>
            <a:ext cx="10874326" cy="4770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900" b="1" dirty="0" smtClean="0">
                <a:solidFill>
                  <a:srgbClr val="002060"/>
                </a:solidFill>
              </a:rPr>
              <a:t>Problem Statement</a:t>
            </a:r>
            <a:r>
              <a:rPr lang="en-US" sz="1900" dirty="0" smtClean="0">
                <a:solidFill>
                  <a:srgbClr val="002060"/>
                </a:solidFill>
              </a:rPr>
              <a:t> – Define the need to estimate Fire Radiative Power (FRP) for monitoring wildfire intensity and emissions.</a:t>
            </a:r>
          </a:p>
          <a:p>
            <a:r>
              <a:rPr lang="en-US" sz="1900" b="1" dirty="0" smtClean="0">
                <a:solidFill>
                  <a:srgbClr val="002060"/>
                </a:solidFill>
              </a:rPr>
              <a:t>Data Collection</a:t>
            </a:r>
            <a:r>
              <a:rPr lang="en-US" sz="1900" dirty="0" smtClean="0">
                <a:solidFill>
                  <a:srgbClr val="002060"/>
                </a:solidFill>
              </a:rPr>
              <a:t> – Use NASA MODIS fire dataset (Turkey, 2000–2021) with brightness, temperature, confidence, scan, track, and FRP values.</a:t>
            </a:r>
          </a:p>
          <a:p>
            <a:r>
              <a:rPr lang="en-US" sz="1900" b="1" dirty="0" smtClean="0">
                <a:solidFill>
                  <a:srgbClr val="002060"/>
                </a:solidFill>
              </a:rPr>
              <a:t>Data Preprocessing</a:t>
            </a:r>
            <a:r>
              <a:rPr lang="en-US" sz="1900" dirty="0" smtClean="0">
                <a:solidFill>
                  <a:srgbClr val="002060"/>
                </a:solidFill>
              </a:rPr>
              <a:t> – Clean dataset, handle missing values, convert date into year/month, and encode day/night.</a:t>
            </a:r>
          </a:p>
          <a:p>
            <a:r>
              <a:rPr lang="en-US" sz="1900" b="1" dirty="0" smtClean="0">
                <a:solidFill>
                  <a:srgbClr val="002060"/>
                </a:solidFill>
              </a:rPr>
              <a:t>Exploratory Data Analysis</a:t>
            </a:r>
            <a:r>
              <a:rPr lang="en-US" sz="1900" dirty="0" smtClean="0">
                <a:solidFill>
                  <a:srgbClr val="002060"/>
                </a:solidFill>
              </a:rPr>
              <a:t> – Plot FRP distribution, scatterplots, trends by year/month, and correlation heatmap.</a:t>
            </a:r>
          </a:p>
          <a:p>
            <a:r>
              <a:rPr lang="en-US" sz="1900" b="1" dirty="0" smtClean="0">
                <a:solidFill>
                  <a:srgbClr val="002060"/>
                </a:solidFill>
              </a:rPr>
              <a:t>Model Selection</a:t>
            </a:r>
            <a:r>
              <a:rPr lang="en-US" sz="1900" dirty="0" smtClean="0">
                <a:solidFill>
                  <a:srgbClr val="002060"/>
                </a:solidFill>
              </a:rPr>
              <a:t> –</a:t>
            </a:r>
          </a:p>
          <a:p>
            <a:r>
              <a:rPr lang="en-US" sz="1900" dirty="0" smtClean="0">
                <a:solidFill>
                  <a:srgbClr val="002060"/>
                </a:solidFill>
              </a:rPr>
              <a:t>                 </a:t>
            </a:r>
            <a:r>
              <a:rPr lang="en-US" sz="1900" b="1" dirty="0" smtClean="0">
                <a:solidFill>
                  <a:srgbClr val="002060"/>
                </a:solidFill>
              </a:rPr>
              <a:t>Linear Regression</a:t>
            </a:r>
            <a:r>
              <a:rPr lang="en-US" sz="1900" dirty="0" smtClean="0">
                <a:solidFill>
                  <a:srgbClr val="002060"/>
                </a:solidFill>
              </a:rPr>
              <a:t> → For predicting continuous FRP values.</a:t>
            </a:r>
          </a:p>
          <a:p>
            <a:r>
              <a:rPr lang="en-US" sz="1900" b="1" dirty="0" smtClean="0">
                <a:solidFill>
                  <a:srgbClr val="002060"/>
                </a:solidFill>
              </a:rPr>
              <a:t>                 Logistic Regression</a:t>
            </a:r>
            <a:r>
              <a:rPr lang="en-US" sz="1900" dirty="0" smtClean="0">
                <a:solidFill>
                  <a:srgbClr val="002060"/>
                </a:solidFill>
              </a:rPr>
              <a:t> → For classifying FRP into intensity levels (</a:t>
            </a:r>
            <a:r>
              <a:rPr lang="en-US" sz="1900" i="1" dirty="0" smtClean="0">
                <a:solidFill>
                  <a:srgbClr val="002060"/>
                </a:solidFill>
              </a:rPr>
              <a:t>Low, Medium, High</a:t>
            </a:r>
            <a:r>
              <a:rPr lang="en-US" sz="1900" dirty="0" smtClean="0">
                <a:solidFill>
                  <a:srgbClr val="002060"/>
                </a:solidFill>
              </a:rPr>
              <a:t>).</a:t>
            </a:r>
          </a:p>
          <a:p>
            <a:endParaRPr lang="en-US" sz="1900" dirty="0" smtClean="0">
              <a:solidFill>
                <a:srgbClr val="002060"/>
              </a:solidFill>
            </a:endParaRPr>
          </a:p>
          <a:p>
            <a:r>
              <a:rPr lang="en-US" sz="1900" b="1" dirty="0" smtClean="0">
                <a:solidFill>
                  <a:srgbClr val="002060"/>
                </a:solidFill>
              </a:rPr>
              <a:t>Model Training &amp; Evaluation</a:t>
            </a:r>
            <a:r>
              <a:rPr lang="en-US" sz="1900" dirty="0" smtClean="0">
                <a:solidFill>
                  <a:srgbClr val="002060"/>
                </a:solidFill>
              </a:rPr>
              <a:t> – Split data into train/test sets, evaluate using MAE, RMSE, R² for regression; confusion matrix and classification report for classification.</a:t>
            </a:r>
          </a:p>
          <a:p>
            <a:r>
              <a:rPr lang="en-US" sz="1900" b="1" dirty="0" smtClean="0">
                <a:solidFill>
                  <a:srgbClr val="002060"/>
                </a:solidFill>
              </a:rPr>
              <a:t>Deployment</a:t>
            </a:r>
            <a:r>
              <a:rPr lang="en-US" sz="1900" dirty="0" smtClean="0">
                <a:solidFill>
                  <a:srgbClr val="002060"/>
                </a:solidFill>
              </a:rPr>
              <a:t> – Save models with Joblib and build a Streamlit app for real-time FRP prediction</a:t>
            </a:r>
          </a:p>
          <a:p>
            <a:endParaRPr lang="en-US" sz="1900" dirty="0"/>
          </a:p>
        </p:txBody>
      </p:sp>
    </p:spTree>
    <p:extLst>
      <p:ext uri="{BB962C8B-B14F-4D97-AF65-F5344CB8AC3E}">
        <p14:creationId xmlns:p14="http://schemas.microsoft.com/office/powerpoint/2010/main" xmlns="" val="27067900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2361D872-7EC7-439F-A588-B1D90CB7A92F}"/>
              </a:ext>
            </a:extLst>
          </p:cNvPr>
          <p:cNvSpPr txBox="1"/>
          <p:nvPr/>
        </p:nvSpPr>
        <p:spPr>
          <a:xfrm>
            <a:off x="255104" y="1054412"/>
            <a:ext cx="610262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213163"/>
                </a:solidFill>
              </a:rPr>
              <a:t>Problem Statement:  </a:t>
            </a:r>
            <a:endParaRPr lang="en-IN" sz="2000" b="1" dirty="0">
              <a:solidFill>
                <a:srgbClr val="213163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026942" y="2349305"/>
            <a:ext cx="9917723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 smtClean="0">
                <a:solidFill>
                  <a:srgbClr val="002060"/>
                </a:solidFill>
              </a:rPr>
              <a:t>Forest fires cause severe ecological and economic damage worldwide, leading to loss of biodiversity, destruction of property, and increased carbon emissions. </a:t>
            </a:r>
            <a:r>
              <a:rPr lang="en-US" sz="2000" b="1" dirty="0" smtClean="0">
                <a:solidFill>
                  <a:srgbClr val="002060"/>
                </a:solidFill>
              </a:rPr>
              <a:t>Predicting Fire Radiative Power (FRP)</a:t>
            </a:r>
            <a:r>
              <a:rPr lang="en-US" sz="2000" dirty="0" smtClean="0">
                <a:solidFill>
                  <a:srgbClr val="002060"/>
                </a:solidFill>
              </a:rPr>
              <a:t> is essential for assessing fire intensity, spread, and emissions. Accurate FRP estimation can support early warning systems, disaster management, emission control, and ecological protection</a:t>
            </a:r>
            <a:r>
              <a:rPr lang="en-US" sz="1800" dirty="0" smtClean="0"/>
              <a:t>.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xmlns="" val="319659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2361D872-7EC7-439F-A588-B1D90CB7A92F}"/>
              </a:ext>
            </a:extLst>
          </p:cNvPr>
          <p:cNvSpPr txBox="1"/>
          <p:nvPr/>
        </p:nvSpPr>
        <p:spPr>
          <a:xfrm>
            <a:off x="255104" y="1054412"/>
            <a:ext cx="610262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213163"/>
                </a:solidFill>
              </a:rPr>
              <a:t>Solution:  </a:t>
            </a:r>
            <a:endParaRPr lang="en-IN" sz="2000" b="1" dirty="0">
              <a:solidFill>
                <a:srgbClr val="213163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18978" y="1547446"/>
            <a:ext cx="11029071" cy="46166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Wingdings" pitchFamily="2" charset="2"/>
              <a:buChar char="Ø"/>
            </a:pPr>
            <a:r>
              <a:rPr lang="en-US" sz="2100" dirty="0" smtClean="0">
                <a:solidFill>
                  <a:srgbClr val="002060"/>
                </a:solidFill>
              </a:rPr>
              <a:t>The project helps in </a:t>
            </a:r>
            <a:r>
              <a:rPr lang="en-US" sz="2100" b="1" dirty="0" smtClean="0">
                <a:solidFill>
                  <a:srgbClr val="002060"/>
                </a:solidFill>
              </a:rPr>
              <a:t>early warning and monitoring</a:t>
            </a:r>
            <a:r>
              <a:rPr lang="en-US" sz="2100" dirty="0" smtClean="0">
                <a:solidFill>
                  <a:srgbClr val="002060"/>
                </a:solidFill>
              </a:rPr>
              <a:t> by providing quick FRP estimation using Linear Regression, which gives continuous fire intensity values for real-time detection.</a:t>
            </a:r>
          </a:p>
          <a:p>
            <a:pPr>
              <a:buFont typeface="Wingdings" pitchFamily="2" charset="2"/>
              <a:buChar char="Ø"/>
            </a:pPr>
            <a:r>
              <a:rPr lang="en-US" sz="2100" dirty="0" smtClean="0">
                <a:solidFill>
                  <a:srgbClr val="002060"/>
                </a:solidFill>
              </a:rPr>
              <a:t>I chose </a:t>
            </a:r>
            <a:r>
              <a:rPr lang="en-US" sz="2100" b="1" dirty="0" smtClean="0">
                <a:solidFill>
                  <a:srgbClr val="002060"/>
                </a:solidFill>
              </a:rPr>
              <a:t>Linear Regression</a:t>
            </a:r>
            <a:r>
              <a:rPr lang="en-US" sz="2100" dirty="0" smtClean="0">
                <a:solidFill>
                  <a:srgbClr val="002060"/>
                </a:solidFill>
              </a:rPr>
              <a:t> because it is simple, efficient, and interpretable, making it suitable for predicting FRP from satellite features with reasonable accuracy.</a:t>
            </a:r>
          </a:p>
          <a:p>
            <a:pPr>
              <a:buFont typeface="Wingdings" pitchFamily="2" charset="2"/>
              <a:buChar char="Ø"/>
            </a:pPr>
            <a:r>
              <a:rPr lang="en-US" sz="2100" dirty="0" smtClean="0">
                <a:solidFill>
                  <a:srgbClr val="002060"/>
                </a:solidFill>
              </a:rPr>
              <a:t>I also used </a:t>
            </a:r>
            <a:r>
              <a:rPr lang="en-US" sz="2100" b="1" dirty="0" smtClean="0">
                <a:solidFill>
                  <a:srgbClr val="002060"/>
                </a:solidFill>
              </a:rPr>
              <a:t>Logistic Regression</a:t>
            </a:r>
            <a:r>
              <a:rPr lang="en-US" sz="2100" dirty="0" smtClean="0">
                <a:solidFill>
                  <a:srgbClr val="002060"/>
                </a:solidFill>
              </a:rPr>
              <a:t> to classify FRP into Low, Medium, and High categories, which contributes to easier risk assessment for disaster management teams.</a:t>
            </a:r>
          </a:p>
          <a:p>
            <a:pPr>
              <a:buFont typeface="Wingdings" pitchFamily="2" charset="2"/>
              <a:buChar char="Ø"/>
            </a:pPr>
            <a:r>
              <a:rPr lang="en-US" sz="2100" dirty="0" smtClean="0">
                <a:solidFill>
                  <a:srgbClr val="002060"/>
                </a:solidFill>
              </a:rPr>
              <a:t>By combining regression and classification models, the project improves </a:t>
            </a:r>
            <a:r>
              <a:rPr lang="en-US" sz="2100" b="1" dirty="0" smtClean="0">
                <a:solidFill>
                  <a:srgbClr val="002060"/>
                </a:solidFill>
              </a:rPr>
              <a:t>disaster management</a:t>
            </a:r>
            <a:r>
              <a:rPr lang="en-US" sz="2100" dirty="0" smtClean="0">
                <a:solidFill>
                  <a:srgbClr val="002060"/>
                </a:solidFill>
              </a:rPr>
              <a:t>, as both numeric predictions and intensity levels guide resource allocation.</a:t>
            </a:r>
          </a:p>
          <a:p>
            <a:pPr>
              <a:buFont typeface="Wingdings" pitchFamily="2" charset="2"/>
              <a:buChar char="Ø"/>
            </a:pPr>
            <a:r>
              <a:rPr lang="en-US" sz="2100" dirty="0" smtClean="0">
                <a:solidFill>
                  <a:srgbClr val="002060"/>
                </a:solidFill>
              </a:rPr>
              <a:t>The models contribute to </a:t>
            </a:r>
            <a:r>
              <a:rPr lang="en-US" sz="2100" b="1" dirty="0" smtClean="0">
                <a:solidFill>
                  <a:srgbClr val="002060"/>
                </a:solidFill>
              </a:rPr>
              <a:t>environmental protection</a:t>
            </a:r>
            <a:r>
              <a:rPr lang="en-US" sz="2100" dirty="0" smtClean="0">
                <a:solidFill>
                  <a:srgbClr val="002060"/>
                </a:solidFill>
              </a:rPr>
              <a:t> by enabling estimation of wildfire emissions and supporting ecological impact studies.</a:t>
            </a:r>
          </a:p>
          <a:p>
            <a:pPr>
              <a:buFont typeface="Wingdings" pitchFamily="2" charset="2"/>
              <a:buChar char="Ø"/>
            </a:pPr>
            <a:r>
              <a:rPr lang="en-US" sz="2100" dirty="0" smtClean="0">
                <a:solidFill>
                  <a:srgbClr val="002060"/>
                </a:solidFill>
              </a:rPr>
              <a:t>The solution is </a:t>
            </a:r>
            <a:r>
              <a:rPr lang="en-US" sz="2100" b="1" dirty="0" smtClean="0">
                <a:solidFill>
                  <a:srgbClr val="002060"/>
                </a:solidFill>
              </a:rPr>
              <a:t>scalable and practical</a:t>
            </a:r>
            <a:r>
              <a:rPr lang="en-US" sz="2100" dirty="0" smtClean="0">
                <a:solidFill>
                  <a:srgbClr val="002060"/>
                </a:solidFill>
              </a:rPr>
              <a:t>, as the trained models were deployed in a Streamlit app, making them accessible for non-technical users like forest officers and policy makers.</a:t>
            </a:r>
          </a:p>
          <a:p>
            <a:endParaRPr lang="en-US" sz="2100" dirty="0"/>
          </a:p>
        </p:txBody>
      </p:sp>
      <p:sp>
        <p:nvSpPr>
          <p:cNvPr id="5" name="TextBox 4"/>
          <p:cNvSpPr txBox="1"/>
          <p:nvPr/>
        </p:nvSpPr>
        <p:spPr>
          <a:xfrm>
            <a:off x="1969477" y="5845127"/>
            <a:ext cx="966450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 smtClean="0">
                <a:solidFill>
                  <a:srgbClr val="002060"/>
                </a:solidFill>
              </a:rPr>
              <a:t>GitHub</a:t>
            </a:r>
            <a:r>
              <a:rPr lang="en-US" sz="2000" b="1" dirty="0" smtClean="0">
                <a:solidFill>
                  <a:srgbClr val="002060"/>
                </a:solidFill>
              </a:rPr>
              <a:t> </a:t>
            </a:r>
            <a:r>
              <a:rPr lang="en-US" sz="2400" b="1" dirty="0" smtClean="0">
                <a:solidFill>
                  <a:srgbClr val="002060"/>
                </a:solidFill>
              </a:rPr>
              <a:t>Link -  </a:t>
            </a:r>
            <a:r>
              <a:rPr lang="en-US" sz="2000" dirty="0" smtClean="0">
                <a:solidFill>
                  <a:srgbClr val="002060"/>
                </a:solidFill>
              </a:rPr>
              <a:t>https://github.com/Arijit065/Forest-Fire-Fire-Radiative-Power-FRP-Prediction  </a:t>
            </a:r>
            <a:endParaRPr lang="en-US" sz="2000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30029688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2361D872-7EC7-439F-A588-B1D90CB7A92F}"/>
              </a:ext>
            </a:extLst>
          </p:cNvPr>
          <p:cNvSpPr txBox="1"/>
          <p:nvPr/>
        </p:nvSpPr>
        <p:spPr>
          <a:xfrm>
            <a:off x="255104" y="1054412"/>
            <a:ext cx="610262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213163"/>
                </a:solidFill>
              </a:rPr>
              <a:t>Screenshot of Output:  </a:t>
            </a:r>
            <a:endParaRPr lang="en-IN" sz="2000" b="1" dirty="0">
              <a:solidFill>
                <a:srgbClr val="213163"/>
              </a:solidFill>
            </a:endParaRPr>
          </a:p>
        </p:txBody>
      </p:sp>
      <p:pic>
        <p:nvPicPr>
          <p:cNvPr id="4" name="Picture 3" descr="Screenshot (286).png"/>
          <p:cNvPicPr>
            <a:picLocks noChangeAspect="1"/>
          </p:cNvPicPr>
          <p:nvPr/>
        </p:nvPicPr>
        <p:blipFill>
          <a:blip r:embed="rId2"/>
          <a:srcRect l="7269" t="28816" r="31139" b="22469"/>
          <a:stretch>
            <a:fillRect/>
          </a:stretch>
        </p:blipFill>
        <p:spPr>
          <a:xfrm>
            <a:off x="267286" y="2222695"/>
            <a:ext cx="6485206" cy="2883877"/>
          </a:xfrm>
          <a:prstGeom prst="rect">
            <a:avLst/>
          </a:prstGeom>
        </p:spPr>
      </p:pic>
      <p:pic>
        <p:nvPicPr>
          <p:cNvPr id="5" name="Picture 4" descr="Screenshot (287).png"/>
          <p:cNvPicPr>
            <a:picLocks noChangeAspect="1"/>
          </p:cNvPicPr>
          <p:nvPr/>
        </p:nvPicPr>
        <p:blipFill>
          <a:blip r:embed="rId3"/>
          <a:srcRect l="7385" t="26655" r="64000" b="12187"/>
          <a:stretch>
            <a:fillRect/>
          </a:stretch>
        </p:blipFill>
        <p:spPr>
          <a:xfrm>
            <a:off x="7807569" y="1730327"/>
            <a:ext cx="3488788" cy="41921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16359494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2361D872-7EC7-439F-A588-B1D90CB7A92F}"/>
              </a:ext>
            </a:extLst>
          </p:cNvPr>
          <p:cNvSpPr txBox="1"/>
          <p:nvPr/>
        </p:nvSpPr>
        <p:spPr>
          <a:xfrm>
            <a:off x="255104" y="1054412"/>
            <a:ext cx="610262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213163"/>
                </a:solidFill>
              </a:rPr>
              <a:t>Screenshot of Output:  </a:t>
            </a:r>
            <a:endParaRPr lang="en-IN" sz="2000" b="1" dirty="0">
              <a:solidFill>
                <a:srgbClr val="213163"/>
              </a:solidFill>
            </a:endParaRPr>
          </a:p>
        </p:txBody>
      </p:sp>
      <p:pic>
        <p:nvPicPr>
          <p:cNvPr id="4" name="Picture 3" descr="Screenshot (288).png"/>
          <p:cNvPicPr>
            <a:picLocks noChangeAspect="1"/>
          </p:cNvPicPr>
          <p:nvPr/>
        </p:nvPicPr>
        <p:blipFill>
          <a:blip r:embed="rId2"/>
          <a:srcRect l="7808" t="34146" r="4269" b="20704"/>
          <a:stretch>
            <a:fillRect/>
          </a:stretch>
        </p:blipFill>
        <p:spPr>
          <a:xfrm>
            <a:off x="0" y="1659986"/>
            <a:ext cx="9523828" cy="3010488"/>
          </a:xfrm>
          <a:prstGeom prst="rect">
            <a:avLst/>
          </a:prstGeom>
        </p:spPr>
      </p:pic>
      <p:pic>
        <p:nvPicPr>
          <p:cNvPr id="5" name="Picture 4" descr="Screenshot (289).png"/>
          <p:cNvPicPr>
            <a:picLocks noChangeAspect="1"/>
          </p:cNvPicPr>
          <p:nvPr/>
        </p:nvPicPr>
        <p:blipFill>
          <a:blip r:embed="rId3"/>
          <a:srcRect l="8476" t="25834" r="77118" b="32299"/>
          <a:stretch>
            <a:fillRect/>
          </a:stretch>
        </p:blipFill>
        <p:spPr>
          <a:xfrm>
            <a:off x="9551962" y="3021509"/>
            <a:ext cx="2419643" cy="3449629"/>
          </a:xfrm>
          <a:prstGeom prst="rect">
            <a:avLst/>
          </a:prstGeom>
        </p:spPr>
      </p:pic>
      <p:pic>
        <p:nvPicPr>
          <p:cNvPr id="6" name="Picture 5" descr="Screenshot (289).png"/>
          <p:cNvPicPr>
            <a:picLocks noChangeAspect="1"/>
          </p:cNvPicPr>
          <p:nvPr/>
        </p:nvPicPr>
        <p:blipFill>
          <a:blip r:embed="rId3"/>
          <a:srcRect l="6231" t="69548" r="45654" b="13213"/>
          <a:stretch>
            <a:fillRect/>
          </a:stretch>
        </p:blipFill>
        <p:spPr>
          <a:xfrm>
            <a:off x="0" y="4712677"/>
            <a:ext cx="8729509" cy="17584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16359494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2361D872-7EC7-439F-A588-B1D90CB7A92F}"/>
              </a:ext>
            </a:extLst>
          </p:cNvPr>
          <p:cNvSpPr txBox="1"/>
          <p:nvPr/>
        </p:nvSpPr>
        <p:spPr>
          <a:xfrm>
            <a:off x="255104" y="1054412"/>
            <a:ext cx="610262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213163"/>
                </a:solidFill>
              </a:rPr>
              <a:t>Screenshot of Output:  </a:t>
            </a:r>
            <a:endParaRPr lang="en-IN" sz="2000" b="1" dirty="0">
              <a:solidFill>
                <a:srgbClr val="213163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981156" y="900333"/>
            <a:ext cx="495182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solidFill>
                  <a:srgbClr val="0070C0"/>
                </a:solidFill>
              </a:rPr>
              <a:t>Exploratory Data Analysis (EDA</a:t>
            </a:r>
            <a:r>
              <a:rPr lang="en-US" dirty="0" smtClean="0">
                <a:solidFill>
                  <a:srgbClr val="0070C0"/>
                </a:solidFill>
              </a:rPr>
              <a:t>)</a:t>
            </a:r>
            <a:endParaRPr lang="en-US" dirty="0">
              <a:solidFill>
                <a:srgbClr val="0070C0"/>
              </a:solidFill>
            </a:endParaRP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3477" y="1420837"/>
            <a:ext cx="7301129" cy="2433710"/>
          </a:xfrm>
          <a:prstGeom prst="rect">
            <a:avLst/>
          </a:prstGeom>
        </p:spPr>
      </p:pic>
      <p:pic>
        <p:nvPicPr>
          <p:cNvPr id="6" name="Picture 5" descr="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142935"/>
            <a:ext cx="5430129" cy="2715065"/>
          </a:xfrm>
          <a:prstGeom prst="rect">
            <a:avLst/>
          </a:prstGeom>
        </p:spPr>
      </p:pic>
      <p:pic>
        <p:nvPicPr>
          <p:cNvPr id="8" name="Picture 7" descr="4.png"/>
          <p:cNvPicPr>
            <a:picLocks noChangeAspect="1"/>
          </p:cNvPicPr>
          <p:nvPr/>
        </p:nvPicPr>
        <p:blipFill>
          <a:blip r:embed="rId4"/>
          <a:srcRect l="6321" r="8867"/>
          <a:stretch>
            <a:fillRect/>
          </a:stretch>
        </p:blipFill>
        <p:spPr>
          <a:xfrm>
            <a:off x="6986953" y="4187482"/>
            <a:ext cx="4529797" cy="26705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16359494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2361D872-7EC7-439F-A588-B1D90CB7A92F}"/>
              </a:ext>
            </a:extLst>
          </p:cNvPr>
          <p:cNvSpPr txBox="1"/>
          <p:nvPr/>
        </p:nvSpPr>
        <p:spPr>
          <a:xfrm>
            <a:off x="255104" y="1054412"/>
            <a:ext cx="610262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213163"/>
                </a:solidFill>
              </a:rPr>
              <a:t>Screenshot of Output:  </a:t>
            </a:r>
            <a:endParaRPr lang="en-IN" sz="2000" b="1" dirty="0">
              <a:solidFill>
                <a:srgbClr val="213163"/>
              </a:solidFill>
            </a:endParaRPr>
          </a:p>
        </p:txBody>
      </p:sp>
      <p:pic>
        <p:nvPicPr>
          <p:cNvPr id="4" name="Picture 3" descr="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96412" y="4292987"/>
            <a:ext cx="5767759" cy="2565013"/>
          </a:xfrm>
          <a:prstGeom prst="rect">
            <a:avLst/>
          </a:prstGeom>
        </p:spPr>
      </p:pic>
      <p:pic>
        <p:nvPicPr>
          <p:cNvPr id="5" name="Picture 4" descr="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96222" y="835796"/>
            <a:ext cx="5495778" cy="3663852"/>
          </a:xfrm>
          <a:prstGeom prst="rect">
            <a:avLst/>
          </a:prstGeom>
        </p:spPr>
      </p:pic>
      <p:pic>
        <p:nvPicPr>
          <p:cNvPr id="6" name="Picture 5" descr="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6548" y="1450028"/>
            <a:ext cx="4640753" cy="30938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16359494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2361D872-7EC7-439F-A588-B1D90CB7A92F}"/>
              </a:ext>
            </a:extLst>
          </p:cNvPr>
          <p:cNvSpPr txBox="1"/>
          <p:nvPr/>
        </p:nvSpPr>
        <p:spPr>
          <a:xfrm>
            <a:off x="255104" y="1054412"/>
            <a:ext cx="610262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213163"/>
                </a:solidFill>
              </a:rPr>
              <a:t>Screenshot of Output:  </a:t>
            </a:r>
            <a:endParaRPr lang="en-IN" sz="2000" b="1" dirty="0">
              <a:solidFill>
                <a:srgbClr val="213163"/>
              </a:solidFill>
            </a:endParaRPr>
          </a:p>
        </p:txBody>
      </p:sp>
      <p:pic>
        <p:nvPicPr>
          <p:cNvPr id="5" name="Picture 4" descr="Screenshot (290).png"/>
          <p:cNvPicPr>
            <a:picLocks noChangeAspect="1"/>
          </p:cNvPicPr>
          <p:nvPr/>
        </p:nvPicPr>
        <p:blipFill>
          <a:blip r:embed="rId2"/>
          <a:srcRect l="5820" t="22872" r="43918" b="12021"/>
          <a:stretch>
            <a:fillRect/>
          </a:stretch>
        </p:blipFill>
        <p:spPr>
          <a:xfrm>
            <a:off x="232013" y="1569493"/>
            <a:ext cx="6127844" cy="4462817"/>
          </a:xfrm>
          <a:prstGeom prst="rect">
            <a:avLst/>
          </a:prstGeom>
        </p:spPr>
      </p:pic>
      <p:pic>
        <p:nvPicPr>
          <p:cNvPr id="6" name="Picture 5" descr="Screenshot (291).png"/>
          <p:cNvPicPr>
            <a:picLocks noChangeAspect="1"/>
          </p:cNvPicPr>
          <p:nvPr/>
        </p:nvPicPr>
        <p:blipFill>
          <a:blip r:embed="rId3"/>
          <a:srcRect l="9851" t="28447" r="51754" b="25759"/>
          <a:stretch>
            <a:fillRect/>
          </a:stretch>
        </p:blipFill>
        <p:spPr>
          <a:xfrm>
            <a:off x="6660106" y="2115403"/>
            <a:ext cx="5210359" cy="3493827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287905" y="1869743"/>
            <a:ext cx="320722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>
                <a:solidFill>
                  <a:srgbClr val="00B050"/>
                </a:solidFill>
              </a:rPr>
              <a:t># Residual Analysis</a:t>
            </a:r>
          </a:p>
          <a:p>
            <a:endParaRPr lang="en-US" sz="1400" dirty="0">
              <a:solidFill>
                <a:srgbClr val="92D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16359494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2361D872-7EC7-439F-A588-B1D90CB7A92F}"/>
              </a:ext>
            </a:extLst>
          </p:cNvPr>
          <p:cNvSpPr txBox="1"/>
          <p:nvPr/>
        </p:nvSpPr>
        <p:spPr>
          <a:xfrm>
            <a:off x="255104" y="1054412"/>
            <a:ext cx="610262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213163"/>
                </a:solidFill>
              </a:rPr>
              <a:t>Screenshot of Output:  </a:t>
            </a:r>
            <a:endParaRPr lang="en-IN" sz="2000" b="1" dirty="0">
              <a:solidFill>
                <a:srgbClr val="213163"/>
              </a:solidFill>
            </a:endParaRPr>
          </a:p>
        </p:txBody>
      </p:sp>
      <p:pic>
        <p:nvPicPr>
          <p:cNvPr id="4" name="Picture 3" descr="Screenshot (292).png"/>
          <p:cNvPicPr>
            <a:picLocks noChangeAspect="1"/>
          </p:cNvPicPr>
          <p:nvPr/>
        </p:nvPicPr>
        <p:blipFill>
          <a:blip r:embed="rId2"/>
          <a:srcRect l="9225" t="33576" r="52538" b="20642"/>
          <a:stretch>
            <a:fillRect/>
          </a:stretch>
        </p:blipFill>
        <p:spPr>
          <a:xfrm>
            <a:off x="368490" y="2415653"/>
            <a:ext cx="5859309" cy="3944203"/>
          </a:xfrm>
          <a:prstGeom prst="rect">
            <a:avLst/>
          </a:prstGeom>
        </p:spPr>
      </p:pic>
      <p:pic>
        <p:nvPicPr>
          <p:cNvPr id="5" name="Picture 4" descr="Screenshot (293).png"/>
          <p:cNvPicPr>
            <a:picLocks noChangeAspect="1"/>
          </p:cNvPicPr>
          <p:nvPr/>
        </p:nvPicPr>
        <p:blipFill>
          <a:blip r:embed="rId3"/>
          <a:srcRect l="9233" t="31462" r="52801" b="19845"/>
          <a:stretch>
            <a:fillRect/>
          </a:stretch>
        </p:blipFill>
        <p:spPr>
          <a:xfrm>
            <a:off x="6564574" y="2552129"/>
            <a:ext cx="5240739" cy="377900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14650" y="2115403"/>
            <a:ext cx="283873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>
                <a:solidFill>
                  <a:srgbClr val="00B050"/>
                </a:solidFill>
              </a:rPr>
              <a:t># Residual Analysis</a:t>
            </a:r>
          </a:p>
          <a:p>
            <a:endParaRPr lang="en-US" sz="1400" dirty="0" smtClean="0">
              <a:solidFill>
                <a:srgbClr val="92D050"/>
              </a:solidFill>
            </a:endParaRPr>
          </a:p>
          <a:p>
            <a:endParaRPr lang="en-US" sz="1100" dirty="0"/>
          </a:p>
        </p:txBody>
      </p:sp>
      <p:sp>
        <p:nvSpPr>
          <p:cNvPr id="7" name="TextBox 6"/>
          <p:cNvSpPr txBox="1"/>
          <p:nvPr/>
        </p:nvSpPr>
        <p:spPr>
          <a:xfrm>
            <a:off x="7233313" y="2292825"/>
            <a:ext cx="3384645" cy="6258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>
                <a:solidFill>
                  <a:srgbClr val="00B050"/>
                </a:solidFill>
              </a:rPr>
              <a:t># Actual vs Predicted Plot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16359494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2361D872-7EC7-439F-A588-B1D90CB7A92F}"/>
              </a:ext>
            </a:extLst>
          </p:cNvPr>
          <p:cNvSpPr txBox="1"/>
          <p:nvPr/>
        </p:nvSpPr>
        <p:spPr>
          <a:xfrm>
            <a:off x="255104" y="1054412"/>
            <a:ext cx="610262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213163"/>
                </a:solidFill>
              </a:rPr>
              <a:t>Screenshot of Output:  </a:t>
            </a:r>
            <a:endParaRPr lang="en-IN" sz="2000" b="1" dirty="0">
              <a:solidFill>
                <a:srgbClr val="213163"/>
              </a:solidFill>
            </a:endParaRPr>
          </a:p>
        </p:txBody>
      </p:sp>
      <p:pic>
        <p:nvPicPr>
          <p:cNvPr id="4" name="Picture 3" descr="Screenshot (295).png"/>
          <p:cNvPicPr>
            <a:picLocks noChangeAspect="1"/>
          </p:cNvPicPr>
          <p:nvPr/>
        </p:nvPicPr>
        <p:blipFill>
          <a:blip r:embed="rId2"/>
          <a:srcRect l="2576" t="29045" r="47836" b="10031"/>
          <a:stretch>
            <a:fillRect/>
          </a:stretch>
        </p:blipFill>
        <p:spPr>
          <a:xfrm>
            <a:off x="6225073" y="1651379"/>
            <a:ext cx="5966927" cy="4121624"/>
          </a:xfrm>
          <a:prstGeom prst="rect">
            <a:avLst/>
          </a:prstGeom>
        </p:spPr>
      </p:pic>
      <p:pic>
        <p:nvPicPr>
          <p:cNvPr id="7" name="Picture 6" descr="Screenshot (296).png"/>
          <p:cNvPicPr>
            <a:picLocks noChangeAspect="1"/>
          </p:cNvPicPr>
          <p:nvPr/>
        </p:nvPicPr>
        <p:blipFill>
          <a:blip r:embed="rId3"/>
          <a:srcRect l="2351" t="22673" r="51194" b="14610"/>
          <a:stretch>
            <a:fillRect/>
          </a:stretch>
        </p:blipFill>
        <p:spPr>
          <a:xfrm>
            <a:off x="0" y="1555846"/>
            <a:ext cx="6059390" cy="45992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16359494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2361D872-7EC7-439F-A588-B1D90CB7A92F}"/>
              </a:ext>
            </a:extLst>
          </p:cNvPr>
          <p:cNvSpPr txBox="1"/>
          <p:nvPr/>
        </p:nvSpPr>
        <p:spPr>
          <a:xfrm>
            <a:off x="255104" y="1054412"/>
            <a:ext cx="610262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213163"/>
                </a:solidFill>
              </a:rPr>
              <a:t>Screenshot of Output:  </a:t>
            </a:r>
            <a:endParaRPr lang="en-IN" sz="2000" b="1" dirty="0">
              <a:solidFill>
                <a:srgbClr val="213163"/>
              </a:solidFill>
            </a:endParaRPr>
          </a:p>
        </p:txBody>
      </p:sp>
      <p:pic>
        <p:nvPicPr>
          <p:cNvPr id="1026" name="Picture 2" descr="C:\Users\Arijit\Desktop\inten1\Screenshot (1).png"/>
          <p:cNvPicPr>
            <a:picLocks noChangeAspect="1" noChangeArrowheads="1"/>
          </p:cNvPicPr>
          <p:nvPr/>
        </p:nvPicPr>
        <p:blipFill>
          <a:blip r:embed="rId2"/>
          <a:srcRect t="4727" r="1180" b="6384"/>
          <a:stretch>
            <a:fillRect/>
          </a:stretch>
        </p:blipFill>
        <p:spPr bwMode="auto">
          <a:xfrm>
            <a:off x="718980" y="1454678"/>
            <a:ext cx="10366709" cy="5245278"/>
          </a:xfrm>
          <a:prstGeom prst="rect">
            <a:avLst/>
          </a:prstGeom>
          <a:noFill/>
        </p:spPr>
      </p:pic>
      <p:sp>
        <p:nvSpPr>
          <p:cNvPr id="4" name="TextBox 3"/>
          <p:cNvSpPr txBox="1"/>
          <p:nvPr/>
        </p:nvSpPr>
        <p:spPr>
          <a:xfrm>
            <a:off x="4030134" y="903111"/>
            <a:ext cx="399626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>
                <a:solidFill>
                  <a:srgbClr val="002060"/>
                </a:solidFill>
              </a:rPr>
              <a:t>Deployment Interface</a:t>
            </a:r>
            <a:endParaRPr lang="en-US" sz="2400" b="1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16359494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2361D872-7EC7-439F-A588-B1D90CB7A92F}"/>
              </a:ext>
            </a:extLst>
          </p:cNvPr>
          <p:cNvSpPr txBox="1"/>
          <p:nvPr/>
        </p:nvSpPr>
        <p:spPr>
          <a:xfrm>
            <a:off x="149087" y="988151"/>
            <a:ext cx="610262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213163"/>
                </a:solidFill>
              </a:rPr>
              <a:t>Conclusion:</a:t>
            </a:r>
            <a:r>
              <a:rPr lang="en-US" sz="1800" b="1" dirty="0">
                <a:solidFill>
                  <a:srgbClr val="213163"/>
                </a:solidFill>
              </a:rPr>
              <a:t>  </a:t>
            </a:r>
            <a:endParaRPr lang="en-IN" sz="1800" dirty="0">
              <a:solidFill>
                <a:srgbClr val="213163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33046" y="1666461"/>
            <a:ext cx="10677379" cy="44935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Wingdings" pitchFamily="2" charset="2"/>
              <a:buChar char="Ø"/>
            </a:pPr>
            <a:r>
              <a:rPr lang="en-US" sz="1900" dirty="0" smtClean="0">
                <a:solidFill>
                  <a:srgbClr val="002060"/>
                </a:solidFill>
              </a:rPr>
              <a:t>The project is focused on estimating Fire Radiative Power (FRP) in forest fires using satellite data to support wildfire monitoring and management.</a:t>
            </a:r>
          </a:p>
          <a:p>
            <a:pPr>
              <a:buFont typeface="Wingdings" pitchFamily="2" charset="2"/>
              <a:buChar char="Ø"/>
            </a:pPr>
            <a:r>
              <a:rPr lang="en-US" sz="1900" dirty="0" smtClean="0">
                <a:solidFill>
                  <a:srgbClr val="002060"/>
                </a:solidFill>
              </a:rPr>
              <a:t>I approached the problem by preprocessing the dataset, performing exploratory data analysis (EDA), and applying two models: Linear</a:t>
            </a:r>
            <a:r>
              <a:rPr lang="en-US" sz="1900" b="1" dirty="0" smtClean="0">
                <a:solidFill>
                  <a:srgbClr val="002060"/>
                </a:solidFill>
              </a:rPr>
              <a:t> </a:t>
            </a:r>
            <a:r>
              <a:rPr lang="en-US" sz="1900" dirty="0" smtClean="0">
                <a:solidFill>
                  <a:srgbClr val="002060"/>
                </a:solidFill>
              </a:rPr>
              <a:t>Regression for predicting continuous FRP values and Logistic</a:t>
            </a:r>
            <a:r>
              <a:rPr lang="en-US" sz="1900" b="1" dirty="0" smtClean="0">
                <a:solidFill>
                  <a:srgbClr val="002060"/>
                </a:solidFill>
              </a:rPr>
              <a:t> </a:t>
            </a:r>
            <a:r>
              <a:rPr lang="en-US" sz="1900" dirty="0" smtClean="0">
                <a:solidFill>
                  <a:srgbClr val="002060"/>
                </a:solidFill>
              </a:rPr>
              <a:t>Regression for classifying FRP into intensity levels (Low, Medium, High).</a:t>
            </a:r>
          </a:p>
          <a:p>
            <a:pPr>
              <a:buFont typeface="Wingdings" pitchFamily="2" charset="2"/>
              <a:buChar char="Ø"/>
            </a:pPr>
            <a:r>
              <a:rPr lang="en-US" sz="1900" dirty="0" smtClean="0">
                <a:solidFill>
                  <a:srgbClr val="002060"/>
                </a:solidFill>
              </a:rPr>
              <a:t>The models were evaluated using MAE, RMSE, and R² for regression and </a:t>
            </a:r>
            <a:r>
              <a:rPr lang="en-US" sz="1900" b="1" dirty="0" smtClean="0">
                <a:solidFill>
                  <a:srgbClr val="002060"/>
                </a:solidFill>
              </a:rPr>
              <a:t>accuracy, precision, recall, and F1-score</a:t>
            </a:r>
            <a:r>
              <a:rPr lang="en-US" sz="1900" dirty="0" smtClean="0">
                <a:solidFill>
                  <a:srgbClr val="002060"/>
                </a:solidFill>
              </a:rPr>
              <a:t> for classification, along with cross-validation and residual analysis for reliability.</a:t>
            </a:r>
          </a:p>
          <a:p>
            <a:pPr>
              <a:buFont typeface="Wingdings" pitchFamily="2" charset="2"/>
              <a:buChar char="Ø"/>
            </a:pPr>
            <a:r>
              <a:rPr lang="en-US" sz="2000" b="1" dirty="0" smtClean="0">
                <a:solidFill>
                  <a:srgbClr val="002060"/>
                </a:solidFill>
              </a:rPr>
              <a:t>Impact: </a:t>
            </a:r>
            <a:r>
              <a:rPr lang="en-US" sz="2000" dirty="0" smtClean="0">
                <a:solidFill>
                  <a:srgbClr val="002060"/>
                </a:solidFill>
              </a:rPr>
              <a:t>The</a:t>
            </a:r>
            <a:r>
              <a:rPr lang="en-US" sz="1900" dirty="0" smtClean="0">
                <a:solidFill>
                  <a:srgbClr val="002060"/>
                </a:solidFill>
              </a:rPr>
              <a:t> project makes an impact by enabling early warning systems, improving disaster management, monitoring greenhouse gas emissions, and supporting policy planning through data-driven insights.</a:t>
            </a:r>
          </a:p>
          <a:p>
            <a:pPr>
              <a:buFont typeface="Wingdings" pitchFamily="2" charset="2"/>
              <a:buChar char="Ø"/>
            </a:pPr>
            <a:r>
              <a:rPr lang="en-US" sz="2000" b="1" dirty="0" smtClean="0">
                <a:solidFill>
                  <a:srgbClr val="002060"/>
                </a:solidFill>
              </a:rPr>
              <a:t>Future scope</a:t>
            </a:r>
            <a:r>
              <a:rPr lang="en-US" sz="2000" b="1" dirty="0" smtClean="0"/>
              <a:t>:</a:t>
            </a:r>
            <a:r>
              <a:rPr lang="en-US" sz="2000" dirty="0" smtClean="0"/>
              <a:t> </a:t>
            </a:r>
            <a:r>
              <a:rPr lang="en-US" sz="1900" dirty="0" smtClean="0">
                <a:solidFill>
                  <a:srgbClr val="002060"/>
                </a:solidFill>
              </a:rPr>
              <a:t>Project can be expanded by using advanced machine learning techniques like Random Forests, Gradient Boosting, or Deep Learning models, integrating real-time satellite feeds, and extending to multiple regions for </a:t>
            </a:r>
            <a:r>
              <a:rPr lang="en-US" sz="1900" b="1" dirty="0" smtClean="0">
                <a:solidFill>
                  <a:srgbClr val="002060"/>
                </a:solidFill>
              </a:rPr>
              <a:t>global wildfire prediction and management</a:t>
            </a:r>
            <a:r>
              <a:rPr lang="en-US" sz="1900" dirty="0" smtClean="0">
                <a:solidFill>
                  <a:srgbClr val="002060"/>
                </a:solidFill>
              </a:rPr>
              <a:t>.</a:t>
            </a:r>
          </a:p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xmlns="" val="1519883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Session 01 Design Thinking &amp; Critical Thinking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Session 01 Design Thinking &amp; Critical Thinking" id="{1DE73F69-F87A-4ED3-81C1-82D2BA622E0C}" vid="{37568650-F724-47C7-905E-9640F801749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Session 01 Design Thinking &amp; Critical Thinking</Template>
  <TotalTime>196</TotalTime>
  <Words>822</Words>
  <Application>Microsoft Macintosh PowerPoint</Application>
  <PresentationFormat>Custom</PresentationFormat>
  <Paragraphs>67</Paragraphs>
  <Slides>15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6" baseType="lpstr">
      <vt:lpstr>Session 01 Design Thinking &amp; Critical Thinking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Mahesh Kurhe</dc:creator>
  <cp:lastModifiedBy>Arijit</cp:lastModifiedBy>
  <cp:revision>10</cp:revision>
  <dcterms:created xsi:type="dcterms:W3CDTF">2024-12-31T09:40:01Z</dcterms:created>
  <dcterms:modified xsi:type="dcterms:W3CDTF">2025-09-14T10:18:40Z</dcterms:modified>
</cp:coreProperties>
</file>